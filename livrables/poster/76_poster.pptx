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21597938" cy="28803600"/>
  <p:notesSz cx="7104063" cy="102346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2" d="100"/>
          <a:sy n="22" d="100"/>
        </p:scale>
        <p:origin x="2120"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Titre seul">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9" name="Rectangle à coins arrondis 13"/>
          <p:cNvSpPr/>
          <p:nvPr/>
        </p:nvSpPr>
        <p:spPr>
          <a:xfrm>
            <a:off x="8640" y="-2880"/>
            <a:ext cx="21588840" cy="5328720"/>
          </a:xfrm>
          <a:prstGeom prst="roundRect">
            <a:avLst>
              <a:gd name="adj" fmla="val 0"/>
            </a:avLst>
          </a:prstGeom>
          <a:solidFill>
            <a:srgbClr val="275476"/>
          </a:soli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lstStyle/>
          <a:p>
            <a:pPr algn="ctr">
              <a:lnSpc>
                <a:spcPct val="100000"/>
              </a:lnSpc>
            </a:pPr>
            <a:endParaRPr lang="fr-FR" sz="2400" b="0" strike="noStrike" spc="-1">
              <a:solidFill>
                <a:srgbClr val="238EA0"/>
              </a:solidFill>
              <a:latin typeface="Arial"/>
              <a:ea typeface="ヒラギノ角ゴ Pro W3"/>
            </a:endParaRPr>
          </a:p>
        </p:txBody>
      </p:sp>
      <p:pic>
        <p:nvPicPr>
          <p:cNvPr id="10" name="Image 7" descr="Une image contenant noir&#10;&#10;Description générée automatiquement"/>
          <p:cNvPicPr/>
          <p:nvPr/>
        </p:nvPicPr>
        <p:blipFill>
          <a:blip r:embed="rId3">
            <a:alphaModFix amt="47000"/>
          </a:blip>
          <a:srcRect t="33345" b="22772"/>
          <a:stretch/>
        </p:blipFill>
        <p:spPr>
          <a:xfrm>
            <a:off x="8640" y="-5760"/>
            <a:ext cx="21588840" cy="5328720"/>
          </a:xfrm>
          <a:prstGeom prst="rect">
            <a:avLst/>
          </a:prstGeom>
          <a:ln w="0">
            <a:noFill/>
          </a:ln>
        </p:spPr>
      </p:pic>
      <p:pic>
        <p:nvPicPr>
          <p:cNvPr id="2" name="Image 10"/>
          <p:cNvPicPr/>
          <p:nvPr/>
        </p:nvPicPr>
        <p:blipFill>
          <a:blip r:embed="rId4"/>
          <a:stretch/>
        </p:blipFill>
        <p:spPr>
          <a:xfrm>
            <a:off x="1149840" y="1080360"/>
            <a:ext cx="2366640" cy="3579120"/>
          </a:xfrm>
          <a:prstGeom prst="rect">
            <a:avLst/>
          </a:prstGeom>
          <a:ln w="0">
            <a:noFill/>
          </a:ln>
        </p:spPr>
      </p:pic>
      <p:pic>
        <p:nvPicPr>
          <p:cNvPr id="3" name="Image 11" descr="Une image contenant dessin&#10;&#10;Description générée automatiquement"/>
          <p:cNvPicPr/>
          <p:nvPr/>
        </p:nvPicPr>
        <p:blipFill>
          <a:blip r:embed="rId5"/>
          <a:stretch/>
        </p:blipFill>
        <p:spPr>
          <a:xfrm>
            <a:off x="18482400" y="3600720"/>
            <a:ext cx="2287800" cy="899640"/>
          </a:xfrm>
          <a:prstGeom prst="rect">
            <a:avLst/>
          </a:prstGeom>
          <a:ln w="0">
            <a:noFill/>
          </a:ln>
        </p:spPr>
      </p:pic>
      <p:sp>
        <p:nvSpPr>
          <p:cNvPr id="4" name="Rectangle à coins arrondis 13"/>
          <p:cNvSpPr/>
          <p:nvPr/>
        </p:nvSpPr>
        <p:spPr>
          <a:xfrm>
            <a:off x="8640" y="27810000"/>
            <a:ext cx="21597480" cy="993240"/>
          </a:xfrm>
          <a:prstGeom prst="roundRect">
            <a:avLst>
              <a:gd name="adj" fmla="val 0"/>
            </a:avLst>
          </a:prstGeom>
          <a:solidFill>
            <a:srgbClr val="1E4162"/>
          </a:soli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lstStyle/>
          <a:p>
            <a:pPr algn="ctr">
              <a:lnSpc>
                <a:spcPct val="100000"/>
              </a:lnSpc>
            </a:pPr>
            <a:endParaRPr lang="fr-FR" sz="2400" b="0" strike="noStrike" spc="-1">
              <a:solidFill>
                <a:srgbClr val="238EA0"/>
              </a:solidFill>
              <a:latin typeface="Arial"/>
              <a:ea typeface="ヒラギノ角ゴ Pro W3"/>
            </a:endParaRPr>
          </a:p>
        </p:txBody>
      </p:sp>
      <p:sp>
        <p:nvSpPr>
          <p:cNvPr id="5" name="Rectangle 18"/>
          <p:cNvSpPr/>
          <p:nvPr/>
        </p:nvSpPr>
        <p:spPr>
          <a:xfrm>
            <a:off x="529560" y="28006560"/>
            <a:ext cx="1564920" cy="5166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tabLst>
                <a:tab pos="0" algn="l"/>
              </a:tabLst>
            </a:pPr>
            <a:r>
              <a:rPr lang="fr-FR" sz="2800" b="1" strike="noStrike" spc="-1">
                <a:solidFill>
                  <a:schemeClr val="lt1"/>
                </a:solidFill>
                <a:latin typeface="Century Gothic"/>
                <a:ea typeface="ヒラギノ角ゴ Pro W3"/>
              </a:rPr>
              <a:t>Contact</a:t>
            </a:r>
            <a:endParaRPr lang="fr-FR" sz="2800" b="0" strike="noStrike" spc="-1">
              <a:solidFill>
                <a:srgbClr val="000000"/>
              </a:solidFill>
              <a:latin typeface="Arial"/>
            </a:endParaRPr>
          </a:p>
        </p:txBody>
      </p:sp>
      <p:sp>
        <p:nvSpPr>
          <p:cNvPr id="6" name="Rectangle 30"/>
          <p:cNvSpPr/>
          <p:nvPr/>
        </p:nvSpPr>
        <p:spPr>
          <a:xfrm>
            <a:off x="0" y="5328720"/>
            <a:ext cx="4266720" cy="22480560"/>
          </a:xfrm>
          <a:prstGeom prst="rect">
            <a:avLst/>
          </a:prstGeom>
          <a:solidFill>
            <a:schemeClr val="bg1">
              <a:lumMod val="95000"/>
            </a:schemeClr>
          </a:solidFill>
          <a:ln w="9525">
            <a:noFill/>
          </a:ln>
        </p:spPr>
        <p:style>
          <a:lnRef idx="0">
            <a:scrgbClr r="0" g="0" b="0"/>
          </a:lnRef>
          <a:fillRef idx="0">
            <a:scrgbClr r="0" g="0" b="0"/>
          </a:fillRef>
          <a:effectRef idx="0">
            <a:scrgbClr r="0" g="0" b="0"/>
          </a:effectRef>
          <a:fontRef idx="minor"/>
        </p:style>
        <p:txBody>
          <a:bodyPr numCol="1" spcCol="0" anchor="t">
            <a:noAutofit/>
          </a:bodyPr>
          <a:lstStyle/>
          <a:p>
            <a:pPr defTabSz="914400">
              <a:lnSpc>
                <a:spcPct val="100000"/>
              </a:lnSpc>
              <a:tabLst>
                <a:tab pos="0" algn="l"/>
              </a:tabLst>
            </a:pPr>
            <a:endParaRPr lang="fr-FR" sz="2400" b="0" strike="noStrike" spc="-1">
              <a:solidFill>
                <a:schemeClr val="dk1"/>
              </a:solidFill>
              <a:latin typeface="Arial"/>
              <a:ea typeface="ヒラギノ角ゴ Pro W3"/>
            </a:endParaRPr>
          </a:p>
        </p:txBody>
      </p:sp>
      <p:sp>
        <p:nvSpPr>
          <p:cNvPr id="7" name="PlaceHolder 1"/>
          <p:cNvSpPr>
            <a:spLocks noGrp="1"/>
          </p:cNvSpPr>
          <p:nvPr>
            <p:ph type="title"/>
          </p:nvPr>
        </p:nvSpPr>
        <p:spPr>
          <a:xfrm>
            <a:off x="1079640" y="1149120"/>
            <a:ext cx="19437480" cy="4809600"/>
          </a:xfrm>
          <a:prstGeom prst="rect">
            <a:avLst/>
          </a:prstGeom>
          <a:noFill/>
          <a:ln w="0">
            <a:noFill/>
          </a:ln>
        </p:spPr>
        <p:txBody>
          <a:bodyPr lIns="0" tIns="0" rIns="0" bIns="0" anchor="ctr">
            <a:noAutofit/>
          </a:bodyPr>
          <a:lstStyle/>
          <a:p>
            <a:pPr indent="0">
              <a:buNone/>
            </a:pPr>
            <a:r>
              <a:rPr lang="fr-FR" sz="2400" b="0" strike="noStrike" spc="-1">
                <a:solidFill>
                  <a:schemeClr val="dk1"/>
                </a:solidFill>
                <a:latin typeface="Arial"/>
              </a:rPr>
              <a:t>Cliquez pour éditer le format du texte-titre</a:t>
            </a:r>
          </a:p>
        </p:txBody>
      </p:sp>
      <p:sp>
        <p:nvSpPr>
          <p:cNvPr id="8" name="PlaceHolder 2"/>
          <p:cNvSpPr>
            <a:spLocks noGrp="1"/>
          </p:cNvSpPr>
          <p:nvPr>
            <p:ph type="body"/>
          </p:nvPr>
        </p:nvSpPr>
        <p:spPr>
          <a:xfrm>
            <a:off x="1079640" y="6739920"/>
            <a:ext cx="19437480" cy="167054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0100" b="0" strike="noStrike" spc="-1">
                <a:solidFill>
                  <a:schemeClr val="dk1"/>
                </a:solidFill>
                <a:latin typeface="Arial"/>
              </a:rPr>
              <a:t>Cliquez pour éditer le format du plan de texte</a:t>
            </a:r>
          </a:p>
          <a:p>
            <a:pPr marL="864000" lvl="1" indent="-324000">
              <a:spcBef>
                <a:spcPts val="1134"/>
              </a:spcBef>
              <a:buClr>
                <a:srgbClr val="000000"/>
              </a:buClr>
              <a:buSzPct val="75000"/>
              <a:buFont typeface="Symbol" charset="2"/>
              <a:buChar char=""/>
            </a:pPr>
            <a:r>
              <a:rPr lang="fr-FR" sz="7600" b="0" strike="noStrike" spc="-1">
                <a:solidFill>
                  <a:schemeClr val="dk1"/>
                </a:solidFill>
                <a:latin typeface="Arial"/>
              </a:rPr>
              <a:t>Second niveau de plan</a:t>
            </a:r>
          </a:p>
          <a:p>
            <a:pPr marL="1296000" lvl="2" indent="-288000">
              <a:spcBef>
                <a:spcPts val="850"/>
              </a:spcBef>
              <a:buClr>
                <a:srgbClr val="000000"/>
              </a:buClr>
              <a:buSzPct val="45000"/>
              <a:buFont typeface="Wingdings" charset="2"/>
              <a:buChar char=""/>
            </a:pPr>
            <a:r>
              <a:rPr lang="fr-FR" sz="6300" b="0" strike="noStrike" spc="-1">
                <a:solidFill>
                  <a:schemeClr val="dk1"/>
                </a:solidFill>
                <a:latin typeface="Arial"/>
              </a:rPr>
              <a:t>Troisième niveau de plan</a:t>
            </a:r>
          </a:p>
          <a:p>
            <a:pPr marL="1728000" lvl="3" indent="-216000">
              <a:spcBef>
                <a:spcPts val="567"/>
              </a:spcBef>
              <a:buClr>
                <a:srgbClr val="000000"/>
              </a:buClr>
              <a:buSzPct val="75000"/>
              <a:buFont typeface="Symbol" charset="2"/>
              <a:buChar char=""/>
            </a:pPr>
            <a:r>
              <a:rPr lang="fr-FR" sz="6300" b="0" strike="noStrike" spc="-1">
                <a:solidFill>
                  <a:schemeClr val="dk1"/>
                </a:solidFill>
                <a:latin typeface="Arial"/>
              </a:rPr>
              <a:t>Quatrième niveau de plan</a:t>
            </a:r>
          </a:p>
          <a:p>
            <a:pPr marL="2160000" lvl="4" indent="-216000">
              <a:spcBef>
                <a:spcPts val="283"/>
              </a:spcBef>
              <a:buClr>
                <a:srgbClr val="000000"/>
              </a:buClr>
              <a:buSzPct val="45000"/>
              <a:buFont typeface="Wingdings" charset="2"/>
              <a:buChar char=""/>
            </a:pPr>
            <a:r>
              <a:rPr lang="fr-FR" sz="2000" b="0" strike="noStrike" spc="-1">
                <a:solidFill>
                  <a:schemeClr val="dk1"/>
                </a:solidFill>
                <a:latin typeface="Arial"/>
              </a:rPr>
              <a:t>Cinquième niveau de plan</a:t>
            </a:r>
          </a:p>
          <a:p>
            <a:pPr marL="2592000" lvl="5" indent="-216000">
              <a:spcBef>
                <a:spcPts val="283"/>
              </a:spcBef>
              <a:buClr>
                <a:srgbClr val="000000"/>
              </a:buClr>
              <a:buSzPct val="45000"/>
              <a:buFont typeface="Wingdings" charset="2"/>
              <a:buChar char=""/>
            </a:pPr>
            <a:r>
              <a:rPr lang="fr-FR" sz="2000" b="0" strike="noStrike" spc="-1">
                <a:solidFill>
                  <a:schemeClr val="dk1"/>
                </a:solidFill>
                <a:latin typeface="Arial"/>
              </a:rPr>
              <a:t>Sixième niveau de plan</a:t>
            </a:r>
          </a:p>
          <a:p>
            <a:pPr marL="3024000" lvl="6" indent="-216000">
              <a:spcBef>
                <a:spcPts val="283"/>
              </a:spcBef>
              <a:buClr>
                <a:srgbClr val="000000"/>
              </a:buClr>
              <a:buSzPct val="45000"/>
              <a:buFont typeface="Wingdings" charset="2"/>
              <a:buChar char=""/>
            </a:pPr>
            <a:r>
              <a:rPr lang="fr-FR" sz="2000" b="0" strike="noStrike" spc="-1">
                <a:solidFill>
                  <a:schemeClr val="dk1"/>
                </a:solidFill>
                <a:latin typeface="Arial"/>
              </a:rPr>
              <a:t>Septième niveau de plan</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wmf"/><Relationship Id="rId7" Type="http://schemas.openxmlformats.org/officeDocument/2006/relationships/image" Target="../media/image8.png"/><Relationship Id="rId2" Type="http://schemas.openxmlformats.org/officeDocument/2006/relationships/hyperlink" Target="mailto:Antonin.fruchet@telecom-sudparis.eu" TargetMode="External"/><Relationship Id="rId1" Type="http://schemas.openxmlformats.org/officeDocument/2006/relationships/slideLayout" Target="../slideLayouts/slideLayout1.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5.jpeg"/><Relationship Id="rId9"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7"/>
          <p:cNvSpPr/>
          <p:nvPr/>
        </p:nvSpPr>
        <p:spPr>
          <a:xfrm>
            <a:off x="665280" y="6102360"/>
            <a:ext cx="1798200" cy="577440"/>
          </a:xfrm>
          <a:prstGeom prst="rect">
            <a:avLst/>
          </a:prstGeom>
          <a:noFill/>
          <a:ln w="9525">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fr-FR" sz="3200" b="1" strike="noStrike" spc="-1">
                <a:solidFill>
                  <a:srgbClr val="052E65"/>
                </a:solidFill>
                <a:latin typeface="Century Gothic"/>
                <a:ea typeface="ヒラギノ角ゴ Pro W3"/>
              </a:rPr>
              <a:t>Auteurs</a:t>
            </a:r>
            <a:endParaRPr lang="fr-FR" sz="3200" b="0" strike="noStrike" spc="-1">
              <a:solidFill>
                <a:srgbClr val="000000"/>
              </a:solidFill>
              <a:latin typeface="Arial"/>
            </a:endParaRPr>
          </a:p>
        </p:txBody>
      </p:sp>
      <p:sp>
        <p:nvSpPr>
          <p:cNvPr id="10" name="Text Box 14"/>
          <p:cNvSpPr/>
          <p:nvPr/>
        </p:nvSpPr>
        <p:spPr>
          <a:xfrm>
            <a:off x="708480" y="13845960"/>
            <a:ext cx="3368160" cy="456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fr-FR" sz="2400" b="0" strike="noStrike" spc="-1">
              <a:solidFill>
                <a:schemeClr val="dk1"/>
              </a:solidFill>
              <a:latin typeface="Arial"/>
              <a:ea typeface="ヒラギノ角ゴ Pro W3"/>
            </a:endParaRPr>
          </a:p>
        </p:txBody>
      </p:sp>
      <p:sp>
        <p:nvSpPr>
          <p:cNvPr id="11" name="Text Box 15"/>
          <p:cNvSpPr/>
          <p:nvPr/>
        </p:nvSpPr>
        <p:spPr>
          <a:xfrm>
            <a:off x="724320" y="6759720"/>
            <a:ext cx="3017520" cy="76932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10000"/>
              </a:lnSpc>
              <a:spcAft>
                <a:spcPts val="601"/>
              </a:spcAft>
            </a:pPr>
            <a:r>
              <a:rPr lang="fr-FR" sz="1800" b="0" strike="noStrike" spc="-1">
                <a:solidFill>
                  <a:schemeClr val="dk1"/>
                </a:solidFill>
                <a:latin typeface="Century Gothic"/>
                <a:ea typeface="ヒラギノ角ゴ Pro W3"/>
              </a:rPr>
              <a:t>FRUCHET Antonin</a:t>
            </a:r>
            <a:endParaRPr lang="fr-FR" sz="1800" b="0" strike="noStrike" spc="-1">
              <a:solidFill>
                <a:srgbClr val="000000"/>
              </a:solidFill>
              <a:latin typeface="Arial"/>
            </a:endParaRPr>
          </a:p>
          <a:p>
            <a:pPr>
              <a:lnSpc>
                <a:spcPct val="110000"/>
              </a:lnSpc>
              <a:spcAft>
                <a:spcPts val="601"/>
              </a:spcAft>
            </a:pPr>
            <a:r>
              <a:rPr lang="fr-FR" sz="1800" b="0" strike="noStrike" spc="-1">
                <a:solidFill>
                  <a:schemeClr val="dk1"/>
                </a:solidFill>
                <a:latin typeface="Century Gothic"/>
                <a:ea typeface="ヒラギノ角ゴ Pro W3"/>
              </a:rPr>
              <a:t>BENOIS Loup</a:t>
            </a:r>
            <a:endParaRPr lang="fr-FR" sz="1800" b="0" strike="noStrike" spc="-1">
              <a:solidFill>
                <a:srgbClr val="000000"/>
              </a:solidFill>
              <a:latin typeface="Arial"/>
            </a:endParaRPr>
          </a:p>
        </p:txBody>
      </p:sp>
      <p:sp>
        <p:nvSpPr>
          <p:cNvPr id="12" name="ZoneTexte 31"/>
          <p:cNvSpPr/>
          <p:nvPr/>
        </p:nvSpPr>
        <p:spPr>
          <a:xfrm rot="16200000">
            <a:off x="18893520" y="22439880"/>
            <a:ext cx="4682520" cy="27252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en-US" sz="1200" b="0" strike="noStrike" spc="-1">
                <a:solidFill>
                  <a:schemeClr val="dk1"/>
                </a:solidFill>
                <a:latin typeface="Arial"/>
                <a:ea typeface="ヒラギノ角ゴ Pro W3"/>
              </a:rPr>
              <a:t>Programme Cassiopée 2024-2025          fb: /Projets.Cassiopee/</a:t>
            </a:r>
            <a:endParaRPr lang="fr-FR" sz="1200" b="0" strike="noStrike" spc="-1">
              <a:solidFill>
                <a:srgbClr val="000000"/>
              </a:solidFill>
              <a:latin typeface="Arial"/>
            </a:endParaRPr>
          </a:p>
        </p:txBody>
      </p:sp>
      <p:sp>
        <p:nvSpPr>
          <p:cNvPr id="13" name="Titre 1"/>
          <p:cNvSpPr/>
          <p:nvPr/>
        </p:nvSpPr>
        <p:spPr>
          <a:xfrm>
            <a:off x="4390200" y="1535040"/>
            <a:ext cx="11411280" cy="20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2879640">
              <a:lnSpc>
                <a:spcPct val="80000"/>
              </a:lnSpc>
            </a:pPr>
            <a:r>
              <a:rPr lang="fr-FR" sz="8000" b="1" strike="noStrike" cap="all" spc="-100">
                <a:solidFill>
                  <a:schemeClr val="lt1"/>
                </a:solidFill>
                <a:latin typeface="Century Gothic"/>
                <a:ea typeface="Verdana"/>
              </a:rPr>
              <a:t>DiveMonitor</a:t>
            </a:r>
            <a:endParaRPr lang="fr-FR" sz="8000" b="0" strike="noStrike" spc="-1">
              <a:solidFill>
                <a:srgbClr val="000000"/>
              </a:solidFill>
              <a:latin typeface="Arial"/>
            </a:endParaRPr>
          </a:p>
        </p:txBody>
      </p:sp>
      <p:sp>
        <p:nvSpPr>
          <p:cNvPr id="14" name="Sous-titre 2"/>
          <p:cNvSpPr/>
          <p:nvPr/>
        </p:nvSpPr>
        <p:spPr>
          <a:xfrm>
            <a:off x="4390200" y="3186000"/>
            <a:ext cx="10800000" cy="702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2879640">
              <a:lnSpc>
                <a:spcPct val="90000"/>
              </a:lnSpc>
              <a:tabLst>
                <a:tab pos="0" algn="l"/>
              </a:tabLst>
            </a:pPr>
            <a:r>
              <a:rPr lang="fr-FR" sz="4800" b="0" strike="noStrike" cap="all" spc="-100">
                <a:solidFill>
                  <a:schemeClr val="lt1"/>
                </a:solidFill>
                <a:latin typeface="Century Gothic"/>
                <a:ea typeface="Aktiv Grotesk Light"/>
              </a:rPr>
              <a:t>Application mobile de Gestion de submersions</a:t>
            </a:r>
            <a:endParaRPr lang="fr-FR" sz="4800" b="0" strike="noStrike" spc="-1">
              <a:solidFill>
                <a:srgbClr val="000000"/>
              </a:solidFill>
              <a:latin typeface="Arial"/>
            </a:endParaRPr>
          </a:p>
        </p:txBody>
      </p:sp>
      <p:sp>
        <p:nvSpPr>
          <p:cNvPr id="15" name="Rectangle 51"/>
          <p:cNvSpPr/>
          <p:nvPr/>
        </p:nvSpPr>
        <p:spPr>
          <a:xfrm>
            <a:off x="2391480" y="28006560"/>
            <a:ext cx="6759720" cy="572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tabLst>
                <a:tab pos="0" algn="l"/>
              </a:tabLst>
            </a:pPr>
            <a:r>
              <a:rPr lang="fr-FR" sz="2800" b="0" u="sng" strike="noStrike" spc="-1">
                <a:solidFill>
                  <a:schemeClr val="lt1"/>
                </a:solidFill>
                <a:uFillTx/>
                <a:latin typeface="Century Gothic"/>
                <a:ea typeface="ヒラギノ角ゴ Pro W3"/>
                <a:hlinkClick r:id="rId2"/>
              </a:rPr>
              <a:t>a</a:t>
            </a:r>
            <a:r>
              <a:rPr lang="fr-FR" sz="2800" b="0" strike="noStrike" spc="-1">
                <a:solidFill>
                  <a:schemeClr val="lt1"/>
                </a:solidFill>
                <a:latin typeface="Century Gothic"/>
                <a:ea typeface="ヒラギノ角ゴ Pro W3"/>
                <a:hlinkClick r:id="rId2"/>
              </a:rPr>
              <a:t>ntonin.fruchet</a:t>
            </a:r>
            <a:r>
              <a:rPr lang="fr-FR" sz="2800" b="0" u="sng" strike="noStrike" spc="-1">
                <a:solidFill>
                  <a:schemeClr val="lt1"/>
                </a:solidFill>
                <a:uFillTx/>
                <a:latin typeface="Century Gothic"/>
                <a:ea typeface="ヒラギノ角ゴ Pro W3"/>
                <a:hlinkClick r:id="rId2"/>
              </a:rPr>
              <a:t>@telecom-sudparis.eu</a:t>
            </a:r>
            <a:endParaRPr lang="fr-FR" sz="2800" b="0" strike="noStrike" spc="-1">
              <a:solidFill>
                <a:srgbClr val="000000"/>
              </a:solidFill>
              <a:latin typeface="Arial"/>
            </a:endParaRPr>
          </a:p>
        </p:txBody>
      </p:sp>
      <p:sp>
        <p:nvSpPr>
          <p:cNvPr id="16" name="Rectangle 52"/>
          <p:cNvSpPr/>
          <p:nvPr/>
        </p:nvSpPr>
        <p:spPr>
          <a:xfrm>
            <a:off x="11743560" y="28006560"/>
            <a:ext cx="9360000" cy="516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a:lnSpc>
                <a:spcPct val="100000"/>
              </a:lnSpc>
            </a:pPr>
            <a:r>
              <a:rPr lang="fr-FR" sz="2800" b="1" strike="noStrike" spc="-1">
                <a:solidFill>
                  <a:schemeClr val="lt1"/>
                </a:solidFill>
                <a:latin typeface="Century Gothic"/>
                <a:ea typeface="ヒラギノ角ゴ Pro W3"/>
              </a:rPr>
              <a:t>https://www.telecom-sudparis.eu</a:t>
            </a:r>
            <a:endParaRPr lang="fr-FR" sz="2800" b="0" strike="noStrike" spc="-1">
              <a:solidFill>
                <a:srgbClr val="000000"/>
              </a:solidFill>
              <a:latin typeface="Arial"/>
            </a:endParaRPr>
          </a:p>
        </p:txBody>
      </p:sp>
      <p:grpSp>
        <p:nvGrpSpPr>
          <p:cNvPr id="17" name="Groupe 53"/>
          <p:cNvGrpSpPr/>
          <p:nvPr/>
        </p:nvGrpSpPr>
        <p:grpSpPr>
          <a:xfrm>
            <a:off x="5174280" y="6193080"/>
            <a:ext cx="7128360" cy="6006600"/>
            <a:chOff x="5174280" y="6193080"/>
            <a:chExt cx="7128360" cy="6006600"/>
          </a:xfrm>
        </p:grpSpPr>
        <p:sp>
          <p:nvSpPr>
            <p:cNvPr id="18" name="Titre 1"/>
            <p:cNvSpPr/>
            <p:nvPr/>
          </p:nvSpPr>
          <p:spPr>
            <a:xfrm>
              <a:off x="5174280" y="6193080"/>
              <a:ext cx="7128360" cy="4838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noAutofit/>
            </a:bodyPr>
            <a:lstStyle/>
            <a:p>
              <a:pPr defTabSz="2879640">
                <a:lnSpc>
                  <a:spcPct val="80000"/>
                </a:lnSpc>
              </a:pPr>
              <a:r>
                <a:rPr lang="fr-FR" sz="4800" b="1" strike="noStrike" cap="all" spc="-100">
                  <a:solidFill>
                    <a:srgbClr val="062F66"/>
                  </a:solidFill>
                  <a:latin typeface="Century Gothic"/>
                  <a:ea typeface="Century Gothic"/>
                </a:rPr>
                <a:t>Subsurface</a:t>
              </a:r>
              <a:endParaRPr lang="fr-FR" sz="4800" b="0" strike="noStrike" spc="-1">
                <a:solidFill>
                  <a:srgbClr val="000000"/>
                </a:solidFill>
                <a:latin typeface="Arial"/>
              </a:endParaRPr>
            </a:p>
          </p:txBody>
        </p:sp>
        <p:sp>
          <p:nvSpPr>
            <p:cNvPr id="19" name="Sous-titre 2"/>
            <p:cNvSpPr/>
            <p:nvPr/>
          </p:nvSpPr>
          <p:spPr>
            <a:xfrm>
              <a:off x="5174280" y="6821640"/>
              <a:ext cx="7128360" cy="596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noAutofit/>
            </a:bodyPr>
            <a:lstStyle/>
            <a:p>
              <a:pPr defTabSz="2879640">
                <a:lnSpc>
                  <a:spcPct val="100000"/>
                </a:lnSpc>
                <a:tabLst>
                  <a:tab pos="0" algn="l"/>
                </a:tabLst>
              </a:pPr>
              <a:r>
                <a:rPr lang="fr-FR" sz="2800" b="0" strike="noStrike" cap="all" spc="-1">
                  <a:solidFill>
                    <a:srgbClr val="062F66"/>
                  </a:solidFill>
                  <a:latin typeface="Century Gothic"/>
                  <a:ea typeface="Aktiv Grotesk Light"/>
                </a:rPr>
                <a:t>Une app mobile imcomplÈte</a:t>
              </a:r>
              <a:endParaRPr lang="fr-FR" sz="2800" b="0" strike="noStrike" spc="-1">
                <a:solidFill>
                  <a:srgbClr val="000000"/>
                </a:solidFill>
                <a:latin typeface="Arial"/>
              </a:endParaRPr>
            </a:p>
          </p:txBody>
        </p:sp>
        <p:sp>
          <p:nvSpPr>
            <p:cNvPr id="20" name="Rectangle 56"/>
            <p:cNvSpPr/>
            <p:nvPr/>
          </p:nvSpPr>
          <p:spPr>
            <a:xfrm>
              <a:off x="5174280" y="7644600"/>
              <a:ext cx="7128360" cy="4555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spcBef>
                  <a:spcPts val="601"/>
                </a:spcBef>
              </a:pPr>
              <a:r>
                <a:rPr lang="fr-FR" sz="2400" b="1" i="1" strike="noStrike" spc="-1">
                  <a:solidFill>
                    <a:srgbClr val="595959"/>
                  </a:solidFill>
                  <a:latin typeface="Century Gothic"/>
                  <a:ea typeface="ヒラギノ角ゴ Pro W3"/>
                </a:rPr>
                <a:t>SubSurface</a:t>
              </a:r>
              <a:r>
                <a:rPr lang="fr-FR" sz="2400" b="0" strike="noStrike" spc="-1">
                  <a:solidFill>
                    <a:srgbClr val="595959"/>
                  </a:solidFill>
                  <a:latin typeface="Century Gothic"/>
                  <a:ea typeface="ヒラギノ角ゴ Pro W3"/>
                </a:rPr>
                <a:t> est une application créée notamment par Linus Torvalds (créateur de Linux) permettant de récupérer et visualiser des données stockées dans un ordinateur de plongée. L’application était initialement conçue pour ordinateur, puis a été portée sur mobile dans un second temps.</a:t>
              </a:r>
              <a:endParaRPr lang="fr-FR" sz="2400" b="0" strike="noStrike" spc="-1">
                <a:solidFill>
                  <a:srgbClr val="000000"/>
                </a:solidFill>
                <a:latin typeface="Arial"/>
              </a:endParaRPr>
            </a:p>
            <a:p>
              <a:pPr algn="just">
                <a:lnSpc>
                  <a:spcPct val="100000"/>
                </a:lnSpc>
                <a:spcBef>
                  <a:spcPts val="601"/>
                </a:spcBef>
              </a:pPr>
              <a:r>
                <a:rPr lang="fr-FR" sz="2400" b="0" strike="noStrike" spc="-1">
                  <a:solidFill>
                    <a:srgbClr val="595959"/>
                  </a:solidFill>
                  <a:latin typeface="Century Gothic"/>
                  <a:ea typeface="ヒラギノ角ゴ Pro W3"/>
                </a:rPr>
                <a:t> - </a:t>
              </a:r>
              <a:r>
                <a:rPr lang="fr-FR" sz="2400" b="1" strike="noStrike" spc="-1">
                  <a:solidFill>
                    <a:srgbClr val="595959"/>
                  </a:solidFill>
                  <a:latin typeface="Century Gothic"/>
                  <a:ea typeface="ヒラギノ角ゴ Pro W3"/>
                </a:rPr>
                <a:t>Problème </a:t>
              </a:r>
              <a:r>
                <a:rPr lang="fr-FR" sz="2400" b="0" strike="noStrike" spc="-1">
                  <a:solidFill>
                    <a:srgbClr val="595959"/>
                  </a:solidFill>
                  <a:latin typeface="Century Gothic"/>
                  <a:ea typeface="ヒラギノ角ゴ Pro W3"/>
                </a:rPr>
                <a:t>: Des fonctionnalités de déplacement, zoom, et visualisation précise sur l’affichage du graphe sont manquantes pourtant présentes sur ordinateur sont manquante sur mobile.</a:t>
              </a:r>
              <a:endParaRPr lang="fr-FR" sz="2400" b="0" strike="noStrike" spc="-1">
                <a:solidFill>
                  <a:srgbClr val="000000"/>
                </a:solidFill>
                <a:latin typeface="Arial"/>
              </a:endParaRPr>
            </a:p>
          </p:txBody>
        </p:sp>
      </p:grpSp>
      <p:grpSp>
        <p:nvGrpSpPr>
          <p:cNvPr id="21" name="Groupe 57"/>
          <p:cNvGrpSpPr/>
          <p:nvPr/>
        </p:nvGrpSpPr>
        <p:grpSpPr>
          <a:xfrm>
            <a:off x="12698640" y="9753097"/>
            <a:ext cx="7128360" cy="8445960"/>
            <a:chOff x="13079880" y="9479880"/>
            <a:chExt cx="7128360" cy="8445960"/>
          </a:xfrm>
        </p:grpSpPr>
        <p:sp>
          <p:nvSpPr>
            <p:cNvPr id="22" name="Titre 1"/>
            <p:cNvSpPr/>
            <p:nvPr/>
          </p:nvSpPr>
          <p:spPr>
            <a:xfrm>
              <a:off x="13079880" y="9479880"/>
              <a:ext cx="7128360" cy="3672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noAutofit/>
            </a:bodyPr>
            <a:lstStyle/>
            <a:p>
              <a:pPr defTabSz="2879640">
                <a:lnSpc>
                  <a:spcPct val="80000"/>
                </a:lnSpc>
              </a:pPr>
              <a:r>
                <a:rPr lang="fr-FR" sz="4800" b="1" strike="noStrike" cap="all" spc="-100">
                  <a:solidFill>
                    <a:srgbClr val="062F66"/>
                  </a:solidFill>
                  <a:latin typeface="Century Gothic"/>
                  <a:ea typeface="Century Gothic"/>
                </a:rPr>
                <a:t>DiveMOnitor</a:t>
              </a:r>
              <a:endParaRPr lang="fr-FR" sz="4800" b="0" strike="noStrike" spc="-1">
                <a:solidFill>
                  <a:srgbClr val="000000"/>
                </a:solidFill>
                <a:latin typeface="Arial"/>
              </a:endParaRPr>
            </a:p>
          </p:txBody>
        </p:sp>
        <p:sp>
          <p:nvSpPr>
            <p:cNvPr id="23" name="Sous-titre 2"/>
            <p:cNvSpPr/>
            <p:nvPr/>
          </p:nvSpPr>
          <p:spPr>
            <a:xfrm>
              <a:off x="13079880" y="9956880"/>
              <a:ext cx="7128360" cy="452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noAutofit/>
            </a:bodyPr>
            <a:lstStyle/>
            <a:p>
              <a:pPr defTabSz="2879640">
                <a:lnSpc>
                  <a:spcPct val="100000"/>
                </a:lnSpc>
                <a:tabLst>
                  <a:tab pos="0" algn="l"/>
                </a:tabLst>
              </a:pPr>
              <a:r>
                <a:rPr lang="fr-FR" sz="2800" b="0" strike="noStrike" cap="all" spc="-1">
                  <a:solidFill>
                    <a:srgbClr val="062F66"/>
                  </a:solidFill>
                  <a:latin typeface="Century Gothic"/>
                  <a:ea typeface="Aktiv Grotesk Light"/>
                </a:rPr>
                <a:t>LE PROJET TERMINÉ</a:t>
              </a:r>
              <a:endParaRPr lang="fr-FR" sz="2800" b="0" strike="noStrike" spc="-1">
                <a:solidFill>
                  <a:srgbClr val="000000"/>
                </a:solidFill>
                <a:latin typeface="Arial"/>
              </a:endParaRPr>
            </a:p>
          </p:txBody>
        </p:sp>
        <p:sp>
          <p:nvSpPr>
            <p:cNvPr id="24" name="Rectangle 60"/>
            <p:cNvSpPr/>
            <p:nvPr/>
          </p:nvSpPr>
          <p:spPr>
            <a:xfrm>
              <a:off x="13079880" y="10581480"/>
              <a:ext cx="7128360" cy="7344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28600" indent="-228600">
                <a:lnSpc>
                  <a:spcPct val="100000"/>
                </a:lnSpc>
                <a:spcBef>
                  <a:spcPts val="601"/>
                </a:spcBef>
                <a:buClr>
                  <a:srgbClr val="D1214B"/>
                </a:buClr>
                <a:buFont typeface="Arial Bold"/>
                <a:buAutoNum type="arabicPeriod"/>
              </a:pPr>
              <a:r>
                <a:rPr lang="fr-FR" sz="2400" b="0" strike="noStrike" spc="-1" dirty="0">
                  <a:solidFill>
                    <a:srgbClr val="595959"/>
                  </a:solidFill>
                  <a:latin typeface="Century Gothic"/>
                  <a:ea typeface="ヒラギノ角ゴ Pro W3"/>
                </a:rPr>
                <a:t> Application mobile développée en C++ / Qt / QML, compatible Android, permettant d’importer les plongées depuis un ordinateur de plongée.</a:t>
              </a:r>
              <a:endParaRPr lang="fr-FR" sz="2400" b="0" strike="noStrike" spc="-1" dirty="0">
                <a:solidFill>
                  <a:srgbClr val="000000"/>
                </a:solidFill>
                <a:latin typeface="Arial"/>
              </a:endParaRPr>
            </a:p>
            <a:p>
              <a:pPr marL="228600" indent="-228600">
                <a:lnSpc>
                  <a:spcPct val="100000"/>
                </a:lnSpc>
                <a:spcBef>
                  <a:spcPts val="601"/>
                </a:spcBef>
                <a:buClr>
                  <a:srgbClr val="D1214B"/>
                </a:buClr>
                <a:buFont typeface="Arial Bold"/>
                <a:buAutoNum type="arabicPeriod"/>
              </a:pPr>
              <a:r>
                <a:rPr lang="fr-FR" sz="2400" b="0" strike="noStrike" spc="-1" dirty="0">
                  <a:solidFill>
                    <a:srgbClr val="595959"/>
                  </a:solidFill>
                  <a:latin typeface="Century Gothic"/>
                  <a:ea typeface="ヒラギノ角ゴ Pro W3"/>
                </a:rPr>
                <a:t> Les données sont stockées localement dans une base SQLite : historique des plongées, échantillons temporels, profondeurs et températures.</a:t>
              </a:r>
              <a:endParaRPr lang="fr-FR" sz="2400" b="0" strike="noStrike" spc="-1" dirty="0">
                <a:solidFill>
                  <a:srgbClr val="000000"/>
                </a:solidFill>
                <a:latin typeface="Arial"/>
              </a:endParaRPr>
            </a:p>
            <a:p>
              <a:pPr marL="228600" indent="-228600">
                <a:lnSpc>
                  <a:spcPct val="100000"/>
                </a:lnSpc>
                <a:spcBef>
                  <a:spcPts val="601"/>
                </a:spcBef>
                <a:buClr>
                  <a:srgbClr val="D1214B"/>
                </a:buClr>
                <a:buFont typeface="Arial Bold"/>
                <a:buAutoNum type="arabicPeriod"/>
              </a:pPr>
              <a:r>
                <a:rPr lang="fr-FR" sz="2400" b="0" strike="noStrike" spc="-1" dirty="0">
                  <a:solidFill>
                    <a:srgbClr val="595959"/>
                  </a:solidFill>
                  <a:latin typeface="Century Gothic"/>
                  <a:ea typeface="ヒラギノ角ゴ Pro W3"/>
                </a:rPr>
                <a:t> Une page de détail affiche chaque plongée avec ses informations principales : date, durée, profondeur maximale, températures et conditions.</a:t>
              </a:r>
              <a:endParaRPr lang="fr-FR" sz="2400" b="0" strike="noStrike" spc="-1" dirty="0">
                <a:solidFill>
                  <a:srgbClr val="000000"/>
                </a:solidFill>
                <a:latin typeface="Arial"/>
              </a:endParaRPr>
            </a:p>
            <a:p>
              <a:pPr marL="228600" indent="-228600">
                <a:lnSpc>
                  <a:spcPct val="100000"/>
                </a:lnSpc>
                <a:spcBef>
                  <a:spcPts val="601"/>
                </a:spcBef>
                <a:buClr>
                  <a:srgbClr val="D1214B"/>
                </a:buClr>
                <a:buFont typeface="Arial Bold"/>
                <a:buAutoNum type="arabicPeriod"/>
              </a:pPr>
              <a:r>
                <a:rPr lang="fr-FR" sz="2400" b="0" strike="noStrike" spc="-1" dirty="0">
                  <a:solidFill>
                    <a:srgbClr val="595959"/>
                  </a:solidFill>
                  <a:latin typeface="Century Gothic"/>
                  <a:ea typeface="ヒラギノ角ゴ Pro W3"/>
                </a:rPr>
                <a:t>Le graphe est interactif : zoom, déplacement, changement d’ordonnée, sélection d’un point précis et affichage des valeurs associées.</a:t>
              </a:r>
              <a:endParaRPr lang="fr-FR" sz="2400" b="0" strike="noStrike" spc="-1" dirty="0">
                <a:solidFill>
                  <a:srgbClr val="000000"/>
                </a:solidFill>
                <a:latin typeface="Arial"/>
              </a:endParaRPr>
            </a:p>
            <a:p>
              <a:pPr marL="228600" indent="-228600">
                <a:lnSpc>
                  <a:spcPct val="100000"/>
                </a:lnSpc>
                <a:spcBef>
                  <a:spcPts val="601"/>
                </a:spcBef>
                <a:buClr>
                  <a:srgbClr val="D1214B"/>
                </a:buClr>
                <a:buFont typeface="Arial Bold"/>
                <a:buAutoNum type="arabicPeriod"/>
              </a:pPr>
              <a:r>
                <a:rPr lang="fr-FR" sz="2400" b="0" strike="noStrike" spc="-1" dirty="0">
                  <a:solidFill>
                    <a:srgbClr val="595959"/>
                  </a:solidFill>
                  <a:latin typeface="Century Gothic"/>
                  <a:ea typeface="ヒラギノ角ゴ Pro W3"/>
                </a:rPr>
                <a:t> Une sélection de plage permet d’analyser une portion de plongée : durée, variation de profondeur et vitesse moyenne sur l’intervalle choisi.</a:t>
              </a:r>
              <a:endParaRPr lang="fr-FR" sz="2400" b="0" strike="noStrike" spc="-1" dirty="0">
                <a:solidFill>
                  <a:srgbClr val="000000"/>
                </a:solidFill>
                <a:latin typeface="Arial"/>
              </a:endParaRPr>
            </a:p>
          </p:txBody>
        </p:sp>
      </p:grpSp>
      <p:grpSp>
        <p:nvGrpSpPr>
          <p:cNvPr id="25" name="Groupe 61"/>
          <p:cNvGrpSpPr/>
          <p:nvPr/>
        </p:nvGrpSpPr>
        <p:grpSpPr>
          <a:xfrm>
            <a:off x="5174280" y="18937800"/>
            <a:ext cx="7128360" cy="8158680"/>
            <a:chOff x="5174280" y="18937800"/>
            <a:chExt cx="7128360" cy="8158680"/>
          </a:xfrm>
        </p:grpSpPr>
        <p:sp>
          <p:nvSpPr>
            <p:cNvPr id="26" name="Titre 1"/>
            <p:cNvSpPr/>
            <p:nvPr/>
          </p:nvSpPr>
          <p:spPr>
            <a:xfrm>
              <a:off x="5174280" y="18937800"/>
              <a:ext cx="7128360" cy="4838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noAutofit/>
            </a:bodyPr>
            <a:lstStyle/>
            <a:p>
              <a:pPr defTabSz="2879640">
                <a:lnSpc>
                  <a:spcPct val="80000"/>
                </a:lnSpc>
              </a:pPr>
              <a:r>
                <a:rPr lang="fr-FR" sz="4800" b="1" strike="noStrike" cap="all" spc="-100">
                  <a:solidFill>
                    <a:srgbClr val="062F66"/>
                  </a:solidFill>
                  <a:latin typeface="Century Gothic"/>
                  <a:ea typeface="Century Gothic"/>
                </a:rPr>
                <a:t>Objectifs</a:t>
              </a:r>
              <a:endParaRPr lang="fr-FR" sz="4800" b="0" strike="noStrike" spc="-1">
                <a:solidFill>
                  <a:srgbClr val="000000"/>
                </a:solidFill>
                <a:latin typeface="Arial"/>
              </a:endParaRPr>
            </a:p>
          </p:txBody>
        </p:sp>
        <p:sp>
          <p:nvSpPr>
            <p:cNvPr id="27" name="Sous-titre 2"/>
            <p:cNvSpPr/>
            <p:nvPr/>
          </p:nvSpPr>
          <p:spPr>
            <a:xfrm>
              <a:off x="5174280" y="19566000"/>
              <a:ext cx="7128360" cy="596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noAutofit/>
            </a:bodyPr>
            <a:lstStyle/>
            <a:p>
              <a:pPr defTabSz="2879640">
                <a:lnSpc>
                  <a:spcPct val="100000"/>
                </a:lnSpc>
                <a:tabLst>
                  <a:tab pos="0" algn="l"/>
                </a:tabLst>
              </a:pPr>
              <a:r>
                <a:rPr lang="fr-FR" sz="2800" b="0" strike="noStrike" cap="all" spc="-1">
                  <a:solidFill>
                    <a:srgbClr val="062F66"/>
                  </a:solidFill>
                  <a:latin typeface="Century Gothic"/>
                  <a:ea typeface="Aktiv Grotesk Light"/>
                </a:rPr>
                <a:t>Créer une application mobile </a:t>
              </a:r>
              <a:endParaRPr lang="fr-FR" sz="2800" b="0" strike="noStrike" spc="-1">
                <a:solidFill>
                  <a:srgbClr val="000000"/>
                </a:solidFill>
                <a:latin typeface="Arial"/>
              </a:endParaRPr>
            </a:p>
            <a:p>
              <a:pPr defTabSz="2879640">
                <a:lnSpc>
                  <a:spcPct val="100000"/>
                </a:lnSpc>
                <a:tabLst>
                  <a:tab pos="0" algn="l"/>
                </a:tabLst>
              </a:pPr>
              <a:r>
                <a:rPr lang="fr-FR" sz="2800" b="0" strike="noStrike" cap="all" spc="-1">
                  <a:solidFill>
                    <a:srgbClr val="062F66"/>
                  </a:solidFill>
                  <a:latin typeface="Century Gothic"/>
                  <a:ea typeface="Aktiv Grotesk Light"/>
                </a:rPr>
                <a:t>Simpliste  et suffisante intégrant</a:t>
              </a:r>
              <a:endParaRPr lang="fr-FR" sz="2800" b="0" strike="noStrike" spc="-1">
                <a:solidFill>
                  <a:srgbClr val="000000"/>
                </a:solidFill>
                <a:latin typeface="Arial"/>
              </a:endParaRPr>
            </a:p>
            <a:p>
              <a:pPr defTabSz="2879640">
                <a:lnSpc>
                  <a:spcPct val="100000"/>
                </a:lnSpc>
                <a:tabLst>
                  <a:tab pos="0" algn="l"/>
                </a:tabLst>
              </a:pPr>
              <a:r>
                <a:rPr lang="fr-FR" sz="2800" b="0" strike="noStrike" cap="all" spc="-1">
                  <a:solidFill>
                    <a:srgbClr val="062F66"/>
                  </a:solidFill>
                  <a:latin typeface="Century Gothic"/>
                  <a:ea typeface="Aktiv Grotesk Light"/>
                </a:rPr>
                <a:t>Les fonctionnalités manquantes</a:t>
              </a:r>
              <a:endParaRPr lang="fr-FR" sz="2800" b="0" strike="noStrike" spc="-1">
                <a:solidFill>
                  <a:srgbClr val="000000"/>
                </a:solidFill>
                <a:latin typeface="Arial"/>
              </a:endParaRPr>
            </a:p>
          </p:txBody>
        </p:sp>
        <p:sp>
          <p:nvSpPr>
            <p:cNvPr id="28" name="Rectangle 64"/>
            <p:cNvSpPr/>
            <p:nvPr/>
          </p:nvSpPr>
          <p:spPr>
            <a:xfrm>
              <a:off x="5174280" y="21062520"/>
              <a:ext cx="7128360" cy="603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spcBef>
                  <a:spcPts val="601"/>
                </a:spcBef>
              </a:pPr>
              <a:r>
                <a:rPr lang="fr-FR" sz="2400" b="1" i="1" strike="noStrike" spc="-1">
                  <a:solidFill>
                    <a:srgbClr val="595959"/>
                  </a:solidFill>
                  <a:latin typeface="Century Gothic"/>
                  <a:ea typeface="ヒラギノ角ゴ Pro W3"/>
                </a:rPr>
                <a:t>SubSurface</a:t>
              </a:r>
              <a:r>
                <a:rPr lang="fr-FR" sz="2400" b="0" strike="noStrike" spc="-1">
                  <a:solidFill>
                    <a:srgbClr val="595959"/>
                  </a:solidFill>
                  <a:latin typeface="Century Gothic"/>
                  <a:ea typeface="ヒラギノ角ゴ Pro W3"/>
                </a:rPr>
                <a:t> étant codée en C/C++/Qt/QML, nous avons choisi cette technologie pour </a:t>
              </a:r>
              <a:r>
                <a:rPr lang="fr-FR" sz="2400" b="1" i="1" strike="noStrike" spc="-1">
                  <a:solidFill>
                    <a:srgbClr val="595959"/>
                  </a:solidFill>
                  <a:latin typeface="Century Gothic"/>
                  <a:ea typeface="ヒラギノ角ゴ Pro W3"/>
                </a:rPr>
                <a:t>DiveMonitor</a:t>
              </a:r>
              <a:r>
                <a:rPr lang="fr-FR" sz="2400" b="0" strike="noStrike" spc="-1">
                  <a:solidFill>
                    <a:srgbClr val="595959"/>
                  </a:solidFill>
                  <a:latin typeface="Century Gothic"/>
                  <a:ea typeface="ヒラギノ角ゴ Pro W3"/>
                </a:rPr>
                <a:t> et voulions intégrer les fonctionnalités suivantes : </a:t>
              </a:r>
              <a:endParaRPr lang="fr-FR" sz="2400" b="0" strike="noStrike" spc="-1">
                <a:solidFill>
                  <a:srgbClr val="000000"/>
                </a:solidFill>
                <a:latin typeface="Arial"/>
              </a:endParaRPr>
            </a:p>
            <a:p>
              <a:pPr marL="457200" indent="-457200" algn="just">
                <a:lnSpc>
                  <a:spcPct val="100000"/>
                </a:lnSpc>
                <a:spcBef>
                  <a:spcPts val="601"/>
                </a:spcBef>
                <a:buClr>
                  <a:srgbClr val="D1214B"/>
                </a:buClr>
                <a:buFont typeface="Arial Bold"/>
                <a:buAutoNum type="arabicPeriod"/>
              </a:pPr>
              <a:r>
                <a:rPr lang="fr-FR" sz="2400" b="0" strike="noStrike" spc="-1">
                  <a:solidFill>
                    <a:srgbClr val="595959"/>
                  </a:solidFill>
                  <a:latin typeface="Century Gothic"/>
                  <a:ea typeface="ヒラギノ角ゴ Pro W3"/>
                </a:rPr>
                <a:t>Connexion USB/Série (au moins) avec l’ordinateur de plongée.</a:t>
              </a:r>
              <a:endParaRPr lang="fr-FR" sz="2400" b="0" strike="noStrike" spc="-1">
                <a:solidFill>
                  <a:srgbClr val="000000"/>
                </a:solidFill>
                <a:latin typeface="Arial"/>
              </a:endParaRPr>
            </a:p>
            <a:p>
              <a:pPr marL="457200" indent="-457200" algn="just">
                <a:lnSpc>
                  <a:spcPct val="100000"/>
                </a:lnSpc>
                <a:spcBef>
                  <a:spcPts val="601"/>
                </a:spcBef>
                <a:buClr>
                  <a:srgbClr val="D1214B"/>
                </a:buClr>
                <a:buFont typeface="Arial Bold"/>
                <a:buAutoNum type="arabicPeriod"/>
              </a:pPr>
              <a:r>
                <a:rPr lang="fr-FR" sz="2400" b="0" strike="noStrike" spc="-1">
                  <a:solidFill>
                    <a:srgbClr val="595959"/>
                  </a:solidFill>
                  <a:latin typeface="Century Gothic"/>
                  <a:ea typeface="ヒラギノ角ゴ Pro W3"/>
                </a:rPr>
                <a:t>Importation des plongées dans une base de données locale.</a:t>
              </a:r>
              <a:endParaRPr lang="fr-FR" sz="2400" b="0" strike="noStrike" spc="-1">
                <a:solidFill>
                  <a:srgbClr val="000000"/>
                </a:solidFill>
                <a:latin typeface="Arial"/>
              </a:endParaRPr>
            </a:p>
            <a:p>
              <a:pPr marL="457200" indent="-457200" algn="just">
                <a:lnSpc>
                  <a:spcPct val="100000"/>
                </a:lnSpc>
                <a:spcBef>
                  <a:spcPts val="601"/>
                </a:spcBef>
                <a:buClr>
                  <a:srgbClr val="D1214B"/>
                </a:buClr>
                <a:buFont typeface="Arial Bold"/>
                <a:buAutoNum type="arabicPeriod"/>
              </a:pPr>
              <a:r>
                <a:rPr lang="fr-FR" sz="2400" b="0" strike="noStrike" spc="-1">
                  <a:solidFill>
                    <a:srgbClr val="595959"/>
                  </a:solidFill>
                  <a:latin typeface="Century Gothic"/>
                  <a:ea typeface="ヒラギノ角ゴ Pro W3"/>
                </a:rPr>
                <a:t>Page de listing des plongées importées</a:t>
              </a:r>
              <a:endParaRPr lang="fr-FR" sz="2400" b="0" strike="noStrike" spc="-1">
                <a:solidFill>
                  <a:srgbClr val="000000"/>
                </a:solidFill>
                <a:latin typeface="Arial"/>
              </a:endParaRPr>
            </a:p>
            <a:p>
              <a:pPr marL="457200" indent="-457200" algn="just">
                <a:lnSpc>
                  <a:spcPct val="100000"/>
                </a:lnSpc>
                <a:spcBef>
                  <a:spcPts val="601"/>
                </a:spcBef>
                <a:buClr>
                  <a:srgbClr val="D1214B"/>
                </a:buClr>
                <a:buFont typeface="Arial Bold"/>
                <a:buAutoNum type="arabicPeriod"/>
              </a:pPr>
              <a:r>
                <a:rPr lang="fr-FR" sz="2400" b="0" strike="noStrike" spc="-1">
                  <a:solidFill>
                    <a:srgbClr val="595959"/>
                  </a:solidFill>
                  <a:latin typeface="Century Gothic"/>
                  <a:ea typeface="ヒラギノ角ゴ Pro W3"/>
                </a:rPr>
                <a:t>Page de détail d’une plongée (Graphe et données supplémentaires)</a:t>
              </a:r>
              <a:endParaRPr lang="fr-FR" sz="2400" b="0" strike="noStrike" spc="-1">
                <a:solidFill>
                  <a:srgbClr val="000000"/>
                </a:solidFill>
                <a:latin typeface="Arial"/>
              </a:endParaRPr>
            </a:p>
            <a:p>
              <a:pPr marL="457200" indent="-457200" algn="just">
                <a:lnSpc>
                  <a:spcPct val="100000"/>
                </a:lnSpc>
                <a:spcBef>
                  <a:spcPts val="601"/>
                </a:spcBef>
                <a:buClr>
                  <a:srgbClr val="D1214B"/>
                </a:buClr>
                <a:buFont typeface="Arial Bold"/>
                <a:buAutoNum type="arabicPeriod"/>
              </a:pPr>
              <a:r>
                <a:rPr lang="fr-FR" sz="2400" b="0" strike="noStrike" spc="-1">
                  <a:solidFill>
                    <a:srgbClr val="595959"/>
                  </a:solidFill>
                  <a:latin typeface="Century Gothic"/>
                  <a:ea typeface="ヒラギノ角ゴ Pro W3"/>
                </a:rPr>
                <a:t>Graphe responsif ( se déplacer à l’intérieur, zoomer, changer les données affichées, focus sur un point particulier)</a:t>
              </a:r>
              <a:endParaRPr lang="fr-FR" sz="2400" b="0" strike="noStrike" spc="-1">
                <a:solidFill>
                  <a:srgbClr val="000000"/>
                </a:solidFill>
                <a:latin typeface="Arial"/>
              </a:endParaRPr>
            </a:p>
            <a:p>
              <a:pPr algn="just">
                <a:lnSpc>
                  <a:spcPct val="100000"/>
                </a:lnSpc>
                <a:spcBef>
                  <a:spcPts val="601"/>
                </a:spcBef>
              </a:pPr>
              <a:endParaRPr lang="fr-FR" sz="2400" b="0" strike="noStrike" spc="-1">
                <a:solidFill>
                  <a:srgbClr val="000000"/>
                </a:solidFill>
                <a:latin typeface="Arial"/>
              </a:endParaRPr>
            </a:p>
          </p:txBody>
        </p:sp>
      </p:grpSp>
      <p:sp>
        <p:nvSpPr>
          <p:cNvPr id="29" name="ZoneTexte 1"/>
          <p:cNvSpPr/>
          <p:nvPr/>
        </p:nvSpPr>
        <p:spPr>
          <a:xfrm>
            <a:off x="19731600" y="1986840"/>
            <a:ext cx="1371960" cy="1095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fr-FR" sz="6600" b="1" strike="noStrike" spc="-1">
                <a:solidFill>
                  <a:schemeClr val="lt1">
                    <a:lumMod val="95000"/>
                  </a:schemeClr>
                </a:solidFill>
                <a:latin typeface="Arial"/>
                <a:ea typeface="ヒラギノ角ゴ Pro W3"/>
              </a:rPr>
              <a:t>76</a:t>
            </a:r>
            <a:endParaRPr lang="fr-FR" sz="6600" b="0" strike="noStrike" spc="-1">
              <a:solidFill>
                <a:srgbClr val="000000"/>
              </a:solidFill>
              <a:latin typeface="Arial"/>
            </a:endParaRPr>
          </a:p>
        </p:txBody>
      </p:sp>
      <p:sp>
        <p:nvSpPr>
          <p:cNvPr id="30" name="Text Box 7"/>
          <p:cNvSpPr/>
          <p:nvPr/>
        </p:nvSpPr>
        <p:spPr>
          <a:xfrm>
            <a:off x="578160" y="9928440"/>
            <a:ext cx="2454840" cy="577440"/>
          </a:xfrm>
          <a:prstGeom prst="rect">
            <a:avLst/>
          </a:prstGeom>
          <a:noFill/>
          <a:ln w="9525">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fr-FR" sz="3200" b="1" strike="noStrike" spc="-1">
                <a:solidFill>
                  <a:srgbClr val="052E65"/>
                </a:solidFill>
                <a:latin typeface="Century Gothic"/>
                <a:ea typeface="ヒラギノ角ゴ Pro W3"/>
              </a:rPr>
              <a:t>Encadrants</a:t>
            </a:r>
            <a:endParaRPr lang="fr-FR" sz="3200" b="0" strike="noStrike" spc="-1">
              <a:solidFill>
                <a:srgbClr val="000000"/>
              </a:solidFill>
              <a:latin typeface="Arial"/>
            </a:endParaRPr>
          </a:p>
        </p:txBody>
      </p:sp>
      <p:sp>
        <p:nvSpPr>
          <p:cNvPr id="31" name="Text Box 15"/>
          <p:cNvSpPr/>
          <p:nvPr/>
        </p:nvSpPr>
        <p:spPr>
          <a:xfrm>
            <a:off x="766800" y="10729440"/>
            <a:ext cx="3017520" cy="69300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10000"/>
              </a:lnSpc>
              <a:spcAft>
                <a:spcPts val="601"/>
              </a:spcAft>
            </a:pPr>
            <a:r>
              <a:rPr lang="fr-FR" sz="1800" b="0" strike="noStrike" spc="-1">
                <a:solidFill>
                  <a:schemeClr val="dk1"/>
                </a:solidFill>
                <a:latin typeface="Century Gothic"/>
                <a:ea typeface="ヒラギノ角ゴ Pro W3"/>
              </a:rPr>
              <a:t>TAILLANDIER-LOIZE Thierry</a:t>
            </a:r>
            <a:endParaRPr lang="fr-FR" sz="1800" b="0" strike="noStrike" spc="-1">
              <a:solidFill>
                <a:srgbClr val="000000"/>
              </a:solidFill>
              <a:latin typeface="Arial"/>
            </a:endParaRPr>
          </a:p>
        </p:txBody>
      </p:sp>
      <p:pic>
        <p:nvPicPr>
          <p:cNvPr id="32" name="Image 67"/>
          <p:cNvPicPr/>
          <p:nvPr/>
        </p:nvPicPr>
        <p:blipFill>
          <a:blip r:embed="rId3"/>
          <a:stretch/>
        </p:blipFill>
        <p:spPr>
          <a:xfrm>
            <a:off x="19638000" y="1070640"/>
            <a:ext cx="1041120" cy="380520"/>
          </a:xfrm>
          <a:prstGeom prst="rect">
            <a:avLst/>
          </a:prstGeom>
          <a:ln w="0">
            <a:noFill/>
          </a:ln>
        </p:spPr>
      </p:pic>
      <p:pic>
        <p:nvPicPr>
          <p:cNvPr id="33" name="Picture 4" descr="Installing Subsurface-mobile on your mobile device"/>
          <p:cNvPicPr/>
          <p:nvPr/>
        </p:nvPicPr>
        <p:blipFill>
          <a:blip r:embed="rId4"/>
          <a:srcRect l="49827"/>
          <a:stretch/>
        </p:blipFill>
        <p:spPr>
          <a:xfrm>
            <a:off x="6826320" y="12257640"/>
            <a:ext cx="3504240" cy="6095520"/>
          </a:xfrm>
          <a:prstGeom prst="rect">
            <a:avLst/>
          </a:prstGeom>
          <a:ln w="0">
            <a:noFill/>
          </a:ln>
        </p:spPr>
      </p:pic>
      <p:cxnSp>
        <p:nvCxnSpPr>
          <p:cNvPr id="34" name="Straight Arrow Connector 3"/>
          <p:cNvCxnSpPr/>
          <p:nvPr/>
        </p:nvCxnSpPr>
        <p:spPr>
          <a:xfrm>
            <a:off x="6190200" y="13537440"/>
            <a:ext cx="1227240" cy="766080"/>
          </a:xfrm>
          <a:prstGeom prst="straightConnector1">
            <a:avLst/>
          </a:prstGeom>
          <a:ln w="38100">
            <a:solidFill>
              <a:srgbClr val="000000"/>
            </a:solidFill>
            <a:round/>
            <a:tailEnd type="triangle" w="med" len="med"/>
          </a:ln>
        </p:spPr>
      </p:cxnSp>
      <p:sp>
        <p:nvSpPr>
          <p:cNvPr id="35" name="TextBox 6"/>
          <p:cNvSpPr/>
          <p:nvPr/>
        </p:nvSpPr>
        <p:spPr>
          <a:xfrm>
            <a:off x="5062680" y="13304160"/>
            <a:ext cx="136764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500" b="0" strike="noStrike" spc="-1">
                <a:solidFill>
                  <a:schemeClr val="dk1"/>
                </a:solidFill>
                <a:latin typeface="Arial"/>
                <a:ea typeface="ヒラギノ角ゴ Pro W3"/>
              </a:rPr>
              <a:t>Graphe fixe</a:t>
            </a:r>
            <a:endParaRPr lang="fr-FR" sz="1500" b="0" strike="noStrike" spc="-1">
              <a:solidFill>
                <a:srgbClr val="000000"/>
              </a:solidFill>
              <a:latin typeface="Arial"/>
            </a:endParaRPr>
          </a:p>
        </p:txBody>
      </p:sp>
      <p:pic>
        <p:nvPicPr>
          <p:cNvPr id="36" name="Picture 6" descr="Subsurface-mobile – Applications sur Google Play"/>
          <p:cNvPicPr/>
          <p:nvPr/>
        </p:nvPicPr>
        <p:blipFill>
          <a:blip r:embed="rId5"/>
          <a:stretch/>
        </p:blipFill>
        <p:spPr>
          <a:xfrm>
            <a:off x="9618120" y="17453880"/>
            <a:ext cx="1252800" cy="1252800"/>
          </a:xfrm>
          <a:prstGeom prst="rect">
            <a:avLst/>
          </a:prstGeom>
          <a:ln w="0">
            <a:noFill/>
          </a:ln>
        </p:spPr>
      </p:pic>
      <p:pic>
        <p:nvPicPr>
          <p:cNvPr id="37" name="Picture 6" descr="Subsurface-mobile – Applications sur Google Play"/>
          <p:cNvPicPr/>
          <p:nvPr/>
        </p:nvPicPr>
        <p:blipFill>
          <a:blip r:embed="rId5"/>
          <a:stretch/>
        </p:blipFill>
        <p:spPr>
          <a:xfrm>
            <a:off x="10769760" y="5988960"/>
            <a:ext cx="1252800" cy="1252800"/>
          </a:xfrm>
          <a:prstGeom prst="rect">
            <a:avLst/>
          </a:prstGeom>
          <a:ln w="0">
            <a:noFill/>
          </a:ln>
        </p:spPr>
      </p:pic>
      <p:pic>
        <p:nvPicPr>
          <p:cNvPr id="38" name="Picture 9"/>
          <p:cNvPicPr/>
          <p:nvPr/>
        </p:nvPicPr>
        <p:blipFill>
          <a:blip r:embed="rId6"/>
          <a:srcRect l="27611" t="30942" r="26637" b="2430"/>
          <a:stretch/>
        </p:blipFill>
        <p:spPr>
          <a:xfrm rot="5400000">
            <a:off x="14961600" y="5783400"/>
            <a:ext cx="2924640" cy="3194640"/>
          </a:xfrm>
          <a:prstGeom prst="rect">
            <a:avLst/>
          </a:prstGeom>
          <a:ln w="0">
            <a:noFill/>
          </a:ln>
        </p:spPr>
      </p:pic>
      <p:pic>
        <p:nvPicPr>
          <p:cNvPr id="39" name="Picture 11"/>
          <p:cNvPicPr/>
          <p:nvPr/>
        </p:nvPicPr>
        <p:blipFill>
          <a:blip r:embed="rId7"/>
          <a:stretch/>
        </p:blipFill>
        <p:spPr>
          <a:xfrm>
            <a:off x="17820720" y="9562297"/>
            <a:ext cx="1252800" cy="1252800"/>
          </a:xfrm>
          <a:prstGeom prst="rect">
            <a:avLst/>
          </a:prstGeom>
          <a:ln w="0">
            <a:noFill/>
          </a:ln>
        </p:spPr>
      </p:pic>
      <p:sp>
        <p:nvSpPr>
          <p:cNvPr id="40" name="TextBox 12"/>
          <p:cNvSpPr/>
          <p:nvPr/>
        </p:nvSpPr>
        <p:spPr>
          <a:xfrm>
            <a:off x="15050880" y="8925480"/>
            <a:ext cx="274536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1800" b="0" strike="noStrike" spc="-1" dirty="0" err="1">
                <a:solidFill>
                  <a:schemeClr val="dk1"/>
                </a:solidFill>
                <a:latin typeface="Arial"/>
                <a:ea typeface="ヒラギノ角ゴ Pro W3"/>
              </a:rPr>
              <a:t>Ordinateur</a:t>
            </a:r>
            <a:r>
              <a:rPr lang="en-US" sz="1800" b="0" strike="noStrike" spc="-1" dirty="0">
                <a:solidFill>
                  <a:schemeClr val="dk1"/>
                </a:solidFill>
                <a:latin typeface="Arial"/>
                <a:ea typeface="ヒラギノ角ゴ Pro W3"/>
              </a:rPr>
              <a:t> de </a:t>
            </a:r>
            <a:r>
              <a:rPr lang="en-US" sz="1800" b="0" strike="noStrike" spc="-1" dirty="0" err="1">
                <a:solidFill>
                  <a:schemeClr val="dk1"/>
                </a:solidFill>
                <a:latin typeface="Arial"/>
                <a:ea typeface="ヒラギノ角ゴ Pro W3"/>
              </a:rPr>
              <a:t>plongée</a:t>
            </a:r>
            <a:endParaRPr lang="fr-FR" sz="1800" b="0" strike="noStrike" spc="-1" dirty="0">
              <a:solidFill>
                <a:srgbClr val="000000"/>
              </a:solidFill>
              <a:latin typeface="Arial"/>
            </a:endParaRPr>
          </a:p>
        </p:txBody>
      </p:sp>
      <p:pic>
        <p:nvPicPr>
          <p:cNvPr id="41" name="Image 40"/>
          <p:cNvPicPr/>
          <p:nvPr/>
        </p:nvPicPr>
        <p:blipFill>
          <a:blip r:embed="rId8"/>
          <a:stretch/>
        </p:blipFill>
        <p:spPr>
          <a:xfrm>
            <a:off x="16978680" y="19080000"/>
            <a:ext cx="3721320" cy="6954120"/>
          </a:xfrm>
          <a:prstGeom prst="rect">
            <a:avLst/>
          </a:prstGeom>
          <a:ln w="0">
            <a:noFill/>
          </a:ln>
        </p:spPr>
      </p:pic>
      <p:pic>
        <p:nvPicPr>
          <p:cNvPr id="42" name="Image 41"/>
          <p:cNvPicPr/>
          <p:nvPr/>
        </p:nvPicPr>
        <p:blipFill>
          <a:blip r:embed="rId9"/>
          <a:stretch/>
        </p:blipFill>
        <p:spPr>
          <a:xfrm>
            <a:off x="12780000" y="19080000"/>
            <a:ext cx="3780000" cy="7063200"/>
          </a:xfrm>
          <a:prstGeom prst="rect">
            <a:avLst/>
          </a:prstGeom>
          <a:ln w="0">
            <a:noFill/>
          </a:ln>
        </p:spPr>
      </p:pic>
      <p:sp>
        <p:nvSpPr>
          <p:cNvPr id="2" name="TextBox 12">
            <a:extLst>
              <a:ext uri="{FF2B5EF4-FFF2-40B4-BE49-F238E27FC236}">
                <a16:creationId xmlns:a16="http://schemas.microsoft.com/office/drawing/2014/main" id="{FF090186-42CB-D26A-CF4B-ECCCF44B3F76}"/>
              </a:ext>
            </a:extLst>
          </p:cNvPr>
          <p:cNvSpPr/>
          <p:nvPr/>
        </p:nvSpPr>
        <p:spPr>
          <a:xfrm>
            <a:off x="12780000" y="26245145"/>
            <a:ext cx="3780000" cy="36787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pPr>
            <a:r>
              <a:rPr lang="en-US" sz="1800" b="0" strike="noStrike" spc="-1" dirty="0">
                <a:solidFill>
                  <a:schemeClr val="dk1"/>
                </a:solidFill>
                <a:latin typeface="Arial"/>
                <a:ea typeface="ヒラギノ角ゴ Pro W3"/>
              </a:rPr>
              <a:t>Listing des </a:t>
            </a:r>
            <a:r>
              <a:rPr lang="en-US" sz="1800" b="0" strike="noStrike" spc="-1" dirty="0" err="1">
                <a:solidFill>
                  <a:schemeClr val="dk1"/>
                </a:solidFill>
                <a:latin typeface="Arial"/>
                <a:ea typeface="ヒラギノ角ゴ Pro W3"/>
              </a:rPr>
              <a:t>plongées</a:t>
            </a:r>
            <a:r>
              <a:rPr lang="en-US" sz="1800" b="0" strike="noStrike" spc="-1" dirty="0">
                <a:solidFill>
                  <a:schemeClr val="dk1"/>
                </a:solidFill>
                <a:latin typeface="Arial"/>
                <a:ea typeface="ヒラギノ角ゴ Pro W3"/>
              </a:rPr>
              <a:t> </a:t>
            </a:r>
            <a:r>
              <a:rPr lang="en-US" sz="1800" b="0" strike="noStrike" spc="-1" dirty="0" err="1">
                <a:solidFill>
                  <a:schemeClr val="dk1"/>
                </a:solidFill>
                <a:latin typeface="Arial"/>
                <a:ea typeface="ヒラギノ角ゴ Pro W3"/>
              </a:rPr>
              <a:t>importées</a:t>
            </a:r>
            <a:endParaRPr lang="fr-FR" sz="1800" b="0" strike="noStrike" spc="-1" dirty="0">
              <a:solidFill>
                <a:srgbClr val="000000"/>
              </a:solidFill>
              <a:latin typeface="Arial"/>
            </a:endParaRPr>
          </a:p>
        </p:txBody>
      </p:sp>
      <p:sp>
        <p:nvSpPr>
          <p:cNvPr id="3" name="TextBox 12">
            <a:extLst>
              <a:ext uri="{FF2B5EF4-FFF2-40B4-BE49-F238E27FC236}">
                <a16:creationId xmlns:a16="http://schemas.microsoft.com/office/drawing/2014/main" id="{EF171B88-EF1C-56D7-DEE2-917587C50FF4}"/>
              </a:ext>
            </a:extLst>
          </p:cNvPr>
          <p:cNvSpPr/>
          <p:nvPr/>
        </p:nvSpPr>
        <p:spPr>
          <a:xfrm>
            <a:off x="16899120" y="26228202"/>
            <a:ext cx="3780000" cy="36787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pPr>
            <a:r>
              <a:rPr lang="en-US" sz="1800" b="0" strike="noStrike" spc="-1" dirty="0" err="1">
                <a:solidFill>
                  <a:schemeClr val="dk1"/>
                </a:solidFill>
                <a:latin typeface="Arial"/>
                <a:ea typeface="ヒラギノ角ゴ Pro W3"/>
              </a:rPr>
              <a:t>Détail</a:t>
            </a:r>
            <a:r>
              <a:rPr lang="en-US" spc="-1" dirty="0" err="1">
                <a:solidFill>
                  <a:schemeClr val="dk1"/>
                </a:solidFill>
                <a:latin typeface="Arial"/>
                <a:ea typeface="ヒラギノ角ゴ Pro W3"/>
              </a:rPr>
              <a:t>s</a:t>
            </a:r>
            <a:r>
              <a:rPr lang="en-US" spc="-1" dirty="0">
                <a:solidFill>
                  <a:schemeClr val="dk1"/>
                </a:solidFill>
                <a:latin typeface="Arial"/>
                <a:ea typeface="ヒラギノ角ゴ Pro W3"/>
              </a:rPr>
              <a:t> </a:t>
            </a:r>
            <a:r>
              <a:rPr lang="en-US" spc="-1" dirty="0" err="1">
                <a:solidFill>
                  <a:schemeClr val="dk1"/>
                </a:solidFill>
                <a:latin typeface="Arial"/>
                <a:ea typeface="ヒラギノ角ゴ Pro W3"/>
              </a:rPr>
              <a:t>d’une</a:t>
            </a:r>
            <a:r>
              <a:rPr lang="en-US" spc="-1" dirty="0">
                <a:solidFill>
                  <a:schemeClr val="dk1"/>
                </a:solidFill>
                <a:latin typeface="Arial"/>
                <a:ea typeface="ヒラギノ角ゴ Pro W3"/>
              </a:rPr>
              <a:t> </a:t>
            </a:r>
            <a:r>
              <a:rPr lang="en-US" spc="-1" dirty="0" err="1">
                <a:solidFill>
                  <a:schemeClr val="dk1"/>
                </a:solidFill>
                <a:latin typeface="Arial"/>
                <a:ea typeface="ヒラギノ角ゴ Pro W3"/>
              </a:rPr>
              <a:t>plongée</a:t>
            </a:r>
            <a:endParaRPr lang="fr-FR" sz="1800" b="0" strike="noStrike" spc="-1" dirty="0">
              <a:solidFill>
                <a:srgbClr val="000000"/>
              </a:solidFill>
              <a:latin typeface="Arial"/>
            </a:endParaRPr>
          </a:p>
        </p:txBody>
      </p:sp>
    </p:spTree>
  </p:cSld>
  <p:clrMapOvr>
    <a:masterClrMapping/>
  </p:clrMapOvr>
</p:sld>
</file>

<file path=ppt/theme/theme1.xml><?xml version="1.0" encoding="utf-8"?>
<a:theme xmlns:a="http://schemas.openxmlformats.org/drawingml/2006/main" name="Telecom_SudParis_Poster_recherche">
  <a:themeElements>
    <a:clrScheme name="Institut-TELECOM-Poster-Model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Institut-TELECOM-Poster-Modele">
      <a:majorFont>
        <a:latin typeface="Arial Bold"/>
        <a:ea typeface="ヒラギノ角ゴ Pro W3"/>
        <a:cs typeface="ヒラギノ角ゴ Pro W3"/>
      </a:majorFont>
      <a:minorFont>
        <a:latin typeface="Arial"/>
        <a:ea typeface="ヒラギノ角ゴ Pro W3"/>
        <a:cs typeface="ヒラギノ角ゴ Pro W3"/>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1383</TotalTime>
  <Words>352</Words>
  <Application>Microsoft Office PowerPoint</Application>
  <PresentationFormat>Personnalisé</PresentationFormat>
  <Paragraphs>36</Paragraphs>
  <Slides>1</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vt:i4>
      </vt:variant>
    </vt:vector>
  </HeadingPairs>
  <TitlesOfParts>
    <vt:vector size="7" baseType="lpstr">
      <vt:lpstr>Arial Bold</vt:lpstr>
      <vt:lpstr>Arial</vt:lpstr>
      <vt:lpstr>Century Gothic</vt:lpstr>
      <vt:lpstr>Symbol</vt:lpstr>
      <vt:lpstr>Wingdings</vt:lpstr>
      <vt:lpstr>Telecom_SudParis_Poster_recherche</vt:lpstr>
      <vt:lpstr>Présentation PowerPoint</vt:lpstr>
    </vt:vector>
  </TitlesOfParts>
  <Company>Implica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Titre du poster</dc:title>
  <dc:subject/>
  <dc:creator>IMT</dc:creator>
  <dc:description/>
  <cp:lastModifiedBy>_oOOo_ _oOOo_</cp:lastModifiedBy>
  <cp:revision>39</cp:revision>
  <cp:lastPrinted>2026-05-28T14:48:06Z</cp:lastPrinted>
  <dcterms:created xsi:type="dcterms:W3CDTF">2012-02-29T16:05:21Z</dcterms:created>
  <dcterms:modified xsi:type="dcterms:W3CDTF">2026-05-28T14:48:14Z</dcterms:modified>
  <dc:language>fr-FR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Personnalisé</vt:lpwstr>
  </property>
  <property fmtid="{D5CDD505-2E9C-101B-9397-08002B2CF9AE}" pid="3" name="Slides">
    <vt:i4>1</vt:i4>
  </property>
</Properties>
</file>